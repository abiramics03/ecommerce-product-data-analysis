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C0E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CC623B-EAC4-478A-A43F-1E5D5E9387C5}" v="16" dt="2026-02-26T19:22:20.4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irami S" userId="9edad686b773bb89" providerId="LiveId" clId="{D2949767-46EA-44B9-B870-16CA7A33633F}"/>
    <pc:docChg chg="undo custSel addSld delSld modSld">
      <pc:chgData name="Abirami S" userId="9edad686b773bb89" providerId="LiveId" clId="{D2949767-46EA-44B9-B870-16CA7A33633F}" dt="2026-02-26T19:32:40.717" v="268" actId="1076"/>
      <pc:docMkLst>
        <pc:docMk/>
      </pc:docMkLst>
      <pc:sldChg chg="modSp mod">
        <pc:chgData name="Abirami S" userId="9edad686b773bb89" providerId="LiveId" clId="{D2949767-46EA-44B9-B870-16CA7A33633F}" dt="2026-02-26T18:44:59.206" v="38" actId="207"/>
        <pc:sldMkLst>
          <pc:docMk/>
          <pc:sldMk cId="2844368442" sldId="256"/>
        </pc:sldMkLst>
        <pc:spChg chg="mod">
          <ac:chgData name="Abirami S" userId="9edad686b773bb89" providerId="LiveId" clId="{D2949767-46EA-44B9-B870-16CA7A33633F}" dt="2026-02-26T18:44:59.206" v="38" actId="207"/>
          <ac:spMkLst>
            <pc:docMk/>
            <pc:sldMk cId="2844368442" sldId="256"/>
            <ac:spMk id="2" creationId="{8DFD4C0E-230D-3993-760D-12D48303170A}"/>
          </ac:spMkLst>
        </pc:spChg>
      </pc:sldChg>
      <pc:sldChg chg="modSp mod">
        <pc:chgData name="Abirami S" userId="9edad686b773bb89" providerId="LiveId" clId="{D2949767-46EA-44B9-B870-16CA7A33633F}" dt="2026-02-26T18:47:07.747" v="51" actId="1076"/>
        <pc:sldMkLst>
          <pc:docMk/>
          <pc:sldMk cId="3340700126" sldId="257"/>
        </pc:sldMkLst>
        <pc:spChg chg="mod">
          <ac:chgData name="Abirami S" userId="9edad686b773bb89" providerId="LiveId" clId="{D2949767-46EA-44B9-B870-16CA7A33633F}" dt="2026-02-26T18:47:00.753" v="50" actId="14100"/>
          <ac:spMkLst>
            <pc:docMk/>
            <pc:sldMk cId="3340700126" sldId="257"/>
            <ac:spMk id="2" creationId="{2E7D3BD9-7F5B-6B43-C8DB-ACD21CEFC530}"/>
          </ac:spMkLst>
        </pc:spChg>
        <pc:spChg chg="mod">
          <ac:chgData name="Abirami S" userId="9edad686b773bb89" providerId="LiveId" clId="{D2949767-46EA-44B9-B870-16CA7A33633F}" dt="2026-02-26T18:47:07.747" v="51" actId="1076"/>
          <ac:spMkLst>
            <pc:docMk/>
            <pc:sldMk cId="3340700126" sldId="257"/>
            <ac:spMk id="3" creationId="{B916DA44-76C6-6C59-3B65-3BE6A7B14EB5}"/>
          </ac:spMkLst>
        </pc:spChg>
      </pc:sldChg>
      <pc:sldChg chg="addSp modSp mod">
        <pc:chgData name="Abirami S" userId="9edad686b773bb89" providerId="LiveId" clId="{D2949767-46EA-44B9-B870-16CA7A33633F}" dt="2026-02-26T19:06:50.439" v="191" actId="14100"/>
        <pc:sldMkLst>
          <pc:docMk/>
          <pc:sldMk cId="2912247888" sldId="258"/>
        </pc:sldMkLst>
        <pc:spChg chg="mod">
          <ac:chgData name="Abirami S" userId="9edad686b773bb89" providerId="LiveId" clId="{D2949767-46EA-44B9-B870-16CA7A33633F}" dt="2026-02-26T19:06:23.768" v="188" actId="1076"/>
          <ac:spMkLst>
            <pc:docMk/>
            <pc:sldMk cId="2912247888" sldId="258"/>
            <ac:spMk id="2" creationId="{1CB90DCC-23AD-24E5-E8EC-75F688746BE0}"/>
          </ac:spMkLst>
        </pc:spChg>
        <pc:spChg chg="mod">
          <ac:chgData name="Abirami S" userId="9edad686b773bb89" providerId="LiveId" clId="{D2949767-46EA-44B9-B870-16CA7A33633F}" dt="2026-02-26T19:06:40.997" v="190" actId="1076"/>
          <ac:spMkLst>
            <pc:docMk/>
            <pc:sldMk cId="2912247888" sldId="258"/>
            <ac:spMk id="3" creationId="{7E78859A-500A-3775-7EE9-9A0038BA2747}"/>
          </ac:spMkLst>
        </pc:spChg>
        <pc:spChg chg="add mod">
          <ac:chgData name="Abirami S" userId="9edad686b773bb89" providerId="LiveId" clId="{D2949767-46EA-44B9-B870-16CA7A33633F}" dt="2026-02-26T19:06:28.990" v="189" actId="1076"/>
          <ac:spMkLst>
            <pc:docMk/>
            <pc:sldMk cId="2912247888" sldId="258"/>
            <ac:spMk id="5" creationId="{41B12D04-26B4-4274-9002-46B8B2285A07}"/>
          </ac:spMkLst>
        </pc:spChg>
        <pc:picChg chg="add mod">
          <ac:chgData name="Abirami S" userId="9edad686b773bb89" providerId="LiveId" clId="{D2949767-46EA-44B9-B870-16CA7A33633F}" dt="2026-02-26T19:06:50.439" v="191" actId="14100"/>
          <ac:picMkLst>
            <pc:docMk/>
            <pc:sldMk cId="2912247888" sldId="258"/>
            <ac:picMk id="7" creationId="{80EF7848-69D4-87B4-A934-6B5EFC5D5B45}"/>
          </ac:picMkLst>
        </pc:picChg>
        <pc:picChg chg="add mod">
          <ac:chgData name="Abirami S" userId="9edad686b773bb89" providerId="LiveId" clId="{D2949767-46EA-44B9-B870-16CA7A33633F}" dt="2026-02-26T19:03:05.058" v="163" actId="1076"/>
          <ac:picMkLst>
            <pc:docMk/>
            <pc:sldMk cId="2912247888" sldId="258"/>
            <ac:picMk id="9" creationId="{F8D7ED87-BCDA-E552-799D-404D8C112029}"/>
          </ac:picMkLst>
        </pc:picChg>
        <pc:picChg chg="add mod">
          <ac:chgData name="Abirami S" userId="9edad686b773bb89" providerId="LiveId" clId="{D2949767-46EA-44B9-B870-16CA7A33633F}" dt="2026-02-26T19:03:02.052" v="162" actId="1076"/>
          <ac:picMkLst>
            <pc:docMk/>
            <pc:sldMk cId="2912247888" sldId="258"/>
            <ac:picMk id="11" creationId="{9FE55DDE-C8F5-631B-7956-B453EE81A333}"/>
          </ac:picMkLst>
        </pc:picChg>
      </pc:sldChg>
      <pc:sldChg chg="modSp mod">
        <pc:chgData name="Abirami S" userId="9edad686b773bb89" providerId="LiveId" clId="{D2949767-46EA-44B9-B870-16CA7A33633F}" dt="2026-02-26T19:03:38.956" v="174" actId="20577"/>
        <pc:sldMkLst>
          <pc:docMk/>
          <pc:sldMk cId="2147626449" sldId="259"/>
        </pc:sldMkLst>
        <pc:spChg chg="mod">
          <ac:chgData name="Abirami S" userId="9edad686b773bb89" providerId="LiveId" clId="{D2949767-46EA-44B9-B870-16CA7A33633F}" dt="2026-02-26T18:45:22.143" v="40" actId="207"/>
          <ac:spMkLst>
            <pc:docMk/>
            <pc:sldMk cId="2147626449" sldId="259"/>
            <ac:spMk id="2" creationId="{23B05CFB-5E03-3F8B-9585-9E5E19D54C3B}"/>
          </ac:spMkLst>
        </pc:spChg>
        <pc:spChg chg="mod">
          <ac:chgData name="Abirami S" userId="9edad686b773bb89" providerId="LiveId" clId="{D2949767-46EA-44B9-B870-16CA7A33633F}" dt="2026-02-26T19:03:38.956" v="174" actId="20577"/>
          <ac:spMkLst>
            <pc:docMk/>
            <pc:sldMk cId="2147626449" sldId="259"/>
            <ac:spMk id="3" creationId="{6F44B3E3-618F-37FE-DC7A-355957456053}"/>
          </ac:spMkLst>
        </pc:spChg>
      </pc:sldChg>
      <pc:sldChg chg="addSp modSp new mod">
        <pc:chgData name="Abirami S" userId="9edad686b773bb89" providerId="LiveId" clId="{D2949767-46EA-44B9-B870-16CA7A33633F}" dt="2026-02-26T19:15:02.021" v="229" actId="1076"/>
        <pc:sldMkLst>
          <pc:docMk/>
          <pc:sldMk cId="3628516831" sldId="260"/>
        </pc:sldMkLst>
        <pc:spChg chg="mod">
          <ac:chgData name="Abirami S" userId="9edad686b773bb89" providerId="LiveId" clId="{D2949767-46EA-44B9-B870-16CA7A33633F}" dt="2026-02-26T19:12:09.017" v="197" actId="2711"/>
          <ac:spMkLst>
            <pc:docMk/>
            <pc:sldMk cId="3628516831" sldId="260"/>
            <ac:spMk id="2" creationId="{5861CADD-67F7-22E5-E0BD-2DB95C4C3CFE}"/>
          </ac:spMkLst>
        </pc:spChg>
        <pc:spChg chg="mod">
          <ac:chgData name="Abirami S" userId="9edad686b773bb89" providerId="LiveId" clId="{D2949767-46EA-44B9-B870-16CA7A33633F}" dt="2026-02-26T19:15:02.021" v="229" actId="1076"/>
          <ac:spMkLst>
            <pc:docMk/>
            <pc:sldMk cId="3628516831" sldId="260"/>
            <ac:spMk id="3" creationId="{8FB11505-D646-2B3C-16BB-B233BC18157F}"/>
          </ac:spMkLst>
        </pc:spChg>
        <pc:picChg chg="add mod">
          <ac:chgData name="Abirami S" userId="9edad686b773bb89" providerId="LiveId" clId="{D2949767-46EA-44B9-B870-16CA7A33633F}" dt="2026-02-26T19:14:44.614" v="226" actId="1076"/>
          <ac:picMkLst>
            <pc:docMk/>
            <pc:sldMk cId="3628516831" sldId="260"/>
            <ac:picMk id="5" creationId="{B04CCC5A-A3CA-8A53-A084-EF2276B931BB}"/>
          </ac:picMkLst>
        </pc:picChg>
      </pc:sldChg>
      <pc:sldChg chg="addSp delSp modSp new del mod">
        <pc:chgData name="Abirami S" userId="9edad686b773bb89" providerId="LiveId" clId="{D2949767-46EA-44B9-B870-16CA7A33633F}" dt="2026-02-26T19:15:14.552" v="230" actId="2696"/>
        <pc:sldMkLst>
          <pc:docMk/>
          <pc:sldMk cId="333650773" sldId="261"/>
        </pc:sldMkLst>
        <pc:spChg chg="del">
          <ac:chgData name="Abirami S" userId="9edad686b773bb89" providerId="LiveId" clId="{D2949767-46EA-44B9-B870-16CA7A33633F}" dt="2026-02-26T19:13:48.811" v="209" actId="21"/>
          <ac:spMkLst>
            <pc:docMk/>
            <pc:sldMk cId="333650773" sldId="261"/>
            <ac:spMk id="3" creationId="{9AC25FC7-64DE-76A0-BACF-5C026AB1778B}"/>
          </ac:spMkLst>
        </pc:spChg>
        <pc:spChg chg="mod">
          <ac:chgData name="Abirami S" userId="9edad686b773bb89" providerId="LiveId" clId="{D2949767-46EA-44B9-B870-16CA7A33633F}" dt="2026-02-26T19:14:02.711" v="217" actId="14100"/>
          <ac:spMkLst>
            <pc:docMk/>
            <pc:sldMk cId="333650773" sldId="261"/>
            <ac:spMk id="4" creationId="{C986EA86-ABAE-98E1-4D99-9ED697DF81BC}"/>
          </ac:spMkLst>
        </pc:spChg>
        <pc:spChg chg="del">
          <ac:chgData name="Abirami S" userId="9edad686b773bb89" providerId="LiveId" clId="{D2949767-46EA-44B9-B870-16CA7A33633F}" dt="2026-02-26T19:13:58.838" v="216" actId="21"/>
          <ac:spMkLst>
            <pc:docMk/>
            <pc:sldMk cId="333650773" sldId="261"/>
            <ac:spMk id="5" creationId="{A979ED2C-8A96-A9A3-DE36-24F8F7C4CBA6}"/>
          </ac:spMkLst>
        </pc:spChg>
        <pc:spChg chg="mod">
          <ac:chgData name="Abirami S" userId="9edad686b773bb89" providerId="LiveId" clId="{D2949767-46EA-44B9-B870-16CA7A33633F}" dt="2026-02-26T19:13:54.599" v="214" actId="27636"/>
          <ac:spMkLst>
            <pc:docMk/>
            <pc:sldMk cId="333650773" sldId="261"/>
            <ac:spMk id="6" creationId="{3AB86B4B-667E-99E1-2455-5226EDDE8399}"/>
          </ac:spMkLst>
        </pc:spChg>
        <pc:picChg chg="add mod">
          <ac:chgData name="Abirami S" userId="9edad686b773bb89" providerId="LiveId" clId="{D2949767-46EA-44B9-B870-16CA7A33633F}" dt="2026-02-26T19:14:25.987" v="220" actId="1076"/>
          <ac:picMkLst>
            <pc:docMk/>
            <pc:sldMk cId="333650773" sldId="261"/>
            <ac:picMk id="8" creationId="{A388036D-653A-9586-B6AA-9C1100A046A7}"/>
          </ac:picMkLst>
        </pc:picChg>
      </pc:sldChg>
      <pc:sldChg chg="addSp delSp modSp new mod">
        <pc:chgData name="Abirami S" userId="9edad686b773bb89" providerId="LiveId" clId="{D2949767-46EA-44B9-B870-16CA7A33633F}" dt="2026-02-26T19:32:40.717" v="268" actId="1076"/>
        <pc:sldMkLst>
          <pc:docMk/>
          <pc:sldMk cId="2826196252" sldId="261"/>
        </pc:sldMkLst>
        <pc:spChg chg="mod">
          <ac:chgData name="Abirami S" userId="9edad686b773bb89" providerId="LiveId" clId="{D2949767-46EA-44B9-B870-16CA7A33633F}" dt="2026-02-26T19:22:49.411" v="242" actId="1076"/>
          <ac:spMkLst>
            <pc:docMk/>
            <pc:sldMk cId="2826196252" sldId="261"/>
            <ac:spMk id="2" creationId="{8D4D6579-99F1-D897-B065-24E17B9CB8E1}"/>
          </ac:spMkLst>
        </pc:spChg>
        <pc:spChg chg="del">
          <ac:chgData name="Abirami S" userId="9edad686b773bb89" providerId="LiveId" clId="{D2949767-46EA-44B9-B870-16CA7A33633F}" dt="2026-02-26T19:16:23.451" v="232" actId="22"/>
          <ac:spMkLst>
            <pc:docMk/>
            <pc:sldMk cId="2826196252" sldId="261"/>
            <ac:spMk id="3" creationId="{3D9B2D2F-7734-7A86-0928-0A71AB4615B7}"/>
          </ac:spMkLst>
        </pc:spChg>
        <pc:spChg chg="add mod">
          <ac:chgData name="Abirami S" userId="9edad686b773bb89" providerId="LiveId" clId="{D2949767-46EA-44B9-B870-16CA7A33633F}" dt="2026-02-26T19:32:37.644" v="267" actId="1076"/>
          <ac:spMkLst>
            <pc:docMk/>
            <pc:sldMk cId="2826196252" sldId="261"/>
            <ac:spMk id="7" creationId="{9D909993-C1BF-D963-6A20-30156D82EA84}"/>
          </ac:spMkLst>
        </pc:spChg>
        <pc:picChg chg="add mod ord">
          <ac:chgData name="Abirami S" userId="9edad686b773bb89" providerId="LiveId" clId="{D2949767-46EA-44B9-B870-16CA7A33633F}" dt="2026-02-26T19:32:40.717" v="268" actId="1076"/>
          <ac:picMkLst>
            <pc:docMk/>
            <pc:sldMk cId="2826196252" sldId="261"/>
            <ac:picMk id="5" creationId="{3C290B31-AD61-6EFC-069B-B63D76E1FB3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2/26/2026</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D4C0E-230D-3993-760D-12D48303170A}"/>
              </a:ext>
            </a:extLst>
          </p:cNvPr>
          <p:cNvSpPr>
            <a:spLocks noGrp="1"/>
          </p:cNvSpPr>
          <p:nvPr>
            <p:ph type="ctrTitle"/>
          </p:nvPr>
        </p:nvSpPr>
        <p:spPr>
          <a:xfrm>
            <a:off x="2987394" y="2323965"/>
            <a:ext cx="8574622" cy="2616199"/>
          </a:xfrm>
        </p:spPr>
        <p:txBody>
          <a:bodyPr>
            <a:normAutofit/>
          </a:bodyPr>
          <a:lstStyle/>
          <a:p>
            <a:r>
              <a:rPr lang="en-US" sz="4000" dirty="0">
                <a:solidFill>
                  <a:schemeClr val="accent2">
                    <a:lumMod val="75000"/>
                  </a:schemeClr>
                </a:solidFill>
              </a:rPr>
              <a:t>𝑬-</a:t>
            </a:r>
            <a:r>
              <a:rPr lang="en-IN" sz="3600" dirty="0">
                <a:solidFill>
                  <a:srgbClr val="AC0E30"/>
                </a:solidFill>
              </a:rPr>
              <a:t>𝕮</a:t>
            </a:r>
            <a:r>
              <a:rPr lang="en-US" sz="4000" dirty="0">
                <a:solidFill>
                  <a:schemeClr val="accent2">
                    <a:lumMod val="75000"/>
                  </a:schemeClr>
                </a:solidFill>
              </a:rPr>
              <a:t>𝒐𝒎𝒎𝒆𝒓𝒄𝒆 𝑷𝒓𝒐𝒅𝒖𝒄𝒕 </a:t>
            </a:r>
            <a:br>
              <a:rPr lang="en-US" sz="4000" dirty="0">
                <a:solidFill>
                  <a:schemeClr val="accent2">
                    <a:lumMod val="75000"/>
                  </a:schemeClr>
                </a:solidFill>
              </a:rPr>
            </a:br>
            <a:r>
              <a:rPr lang="en-US" sz="4000" dirty="0">
                <a:solidFill>
                  <a:schemeClr val="accent2">
                    <a:lumMod val="75000"/>
                  </a:schemeClr>
                </a:solidFill>
              </a:rPr>
              <a:t>𝑫𝒂𝒕𝒂 𝑨𝒏𝒂𝒍𝒚𝒔𝒊𝒔</a:t>
            </a:r>
            <a:br>
              <a:rPr lang="en-US" sz="4000" dirty="0">
                <a:solidFill>
                  <a:schemeClr val="accent2">
                    <a:lumMod val="75000"/>
                  </a:schemeClr>
                </a:solidFill>
              </a:rPr>
            </a:br>
            <a:r>
              <a:rPr lang="en-US" sz="4000" dirty="0">
                <a:solidFill>
                  <a:schemeClr val="accent2">
                    <a:lumMod val="75000"/>
                  </a:schemeClr>
                </a:solidFill>
              </a:rPr>
              <a:t> 𝒂𝒏𝒅 𝑴𝒂𝒄𝒉𝒊𝒏𝒆 𝑳𝒆𝒂𝒓𝒏𝒊𝒏𝒈</a:t>
            </a:r>
            <a:endParaRPr lang="en-IN" sz="4000" dirty="0">
              <a:solidFill>
                <a:schemeClr val="accent2">
                  <a:lumMod val="75000"/>
                </a:schemeClr>
              </a:solidFill>
            </a:endParaRPr>
          </a:p>
        </p:txBody>
      </p:sp>
    </p:spTree>
    <p:extLst>
      <p:ext uri="{BB962C8B-B14F-4D97-AF65-F5344CB8AC3E}">
        <p14:creationId xmlns:p14="http://schemas.microsoft.com/office/powerpoint/2010/main" val="2844368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D3BD9-7F5B-6B43-C8DB-ACD21CEFC530}"/>
              </a:ext>
            </a:extLst>
          </p:cNvPr>
          <p:cNvSpPr>
            <a:spLocks noGrp="1"/>
          </p:cNvSpPr>
          <p:nvPr>
            <p:ph type="title"/>
          </p:nvPr>
        </p:nvSpPr>
        <p:spPr>
          <a:xfrm>
            <a:off x="815718" y="518652"/>
            <a:ext cx="9940772" cy="730045"/>
          </a:xfrm>
        </p:spPr>
        <p:txBody>
          <a:bodyPr/>
          <a:lstStyle/>
          <a:p>
            <a:r>
              <a:rPr lang="en-US" dirty="0">
                <a:solidFill>
                  <a:srgbClr val="7030A0"/>
                </a:solidFill>
                <a:latin typeface="Times New Roman" panose="02020603050405020304" pitchFamily="18" charset="0"/>
                <a:cs typeface="Times New Roman" panose="02020603050405020304" pitchFamily="18" charset="0"/>
              </a:rPr>
              <a:t>Introduction</a:t>
            </a:r>
            <a:endParaRPr lang="en-IN"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916DA44-76C6-6C59-3B65-3BE6A7B14EB5}"/>
              </a:ext>
            </a:extLst>
          </p:cNvPr>
          <p:cNvSpPr>
            <a:spLocks noGrp="1"/>
          </p:cNvSpPr>
          <p:nvPr>
            <p:ph idx="1"/>
          </p:nvPr>
        </p:nvSpPr>
        <p:spPr>
          <a:xfrm>
            <a:off x="1435510" y="1260986"/>
            <a:ext cx="10018713" cy="4336027"/>
          </a:xfrm>
        </p:spPr>
        <p:txBody>
          <a:bodyPr>
            <a:normAutofit/>
          </a:bodyPr>
          <a:lstStyle/>
          <a:p>
            <a:pPr>
              <a:buClr>
                <a:srgbClr val="7030A0"/>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This project is designed to analyze e-commerce product data and apply machine learning techniques to generate meaningful insights. The main objective is to study product pricing behavior and classify products as expensive or not based on their features. </a:t>
            </a:r>
          </a:p>
          <a:p>
            <a:pPr>
              <a:buClr>
                <a:srgbClr val="7030A0"/>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project follows an end-to-end data workflow, starting from web scraping and data preprocessing to statistical analysis, database storage, model development, and dashboard visualization.</a:t>
            </a:r>
          </a:p>
          <a:p>
            <a:pPr>
              <a:buClr>
                <a:srgbClr val="7030A0"/>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Web scraping was performed to collect product data from an e-commerce website. </a:t>
            </a:r>
          </a:p>
          <a:p>
            <a:pPr>
              <a:buClr>
                <a:srgbClr val="7030A0"/>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Using Python libraries such as requests and </a:t>
            </a:r>
            <a:r>
              <a:rPr lang="en-US" sz="1600" dirty="0" err="1">
                <a:latin typeface="Times New Roman" panose="02020603050405020304" pitchFamily="18" charset="0"/>
                <a:cs typeface="Times New Roman" panose="02020603050405020304" pitchFamily="18" charset="0"/>
              </a:rPr>
              <a:t>BeautifulSoup</a:t>
            </a:r>
            <a:r>
              <a:rPr lang="en-US" sz="1600" dirty="0">
                <a:latin typeface="Times New Roman" panose="02020603050405020304" pitchFamily="18" charset="0"/>
                <a:cs typeface="Times New Roman" panose="02020603050405020304" pitchFamily="18" charset="0"/>
              </a:rPr>
              <a:t>, product details including name, price, brand, category, and reviews were extracted automatically. </a:t>
            </a:r>
          </a:p>
          <a:p>
            <a:pPr>
              <a:buClr>
                <a:srgbClr val="7030A0"/>
              </a:buCl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collected data was then structured and stored in a CSV file for further processing. This process helped create a real-world dataset for analysis and model building.</a:t>
            </a:r>
          </a:p>
          <a:p>
            <a:endParaRPr lang="en-IN" sz="1600" dirty="0"/>
          </a:p>
        </p:txBody>
      </p:sp>
    </p:spTree>
    <p:extLst>
      <p:ext uri="{BB962C8B-B14F-4D97-AF65-F5344CB8AC3E}">
        <p14:creationId xmlns:p14="http://schemas.microsoft.com/office/powerpoint/2010/main" val="3340700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90DCC-23AD-24E5-E8EC-75F688746BE0}"/>
              </a:ext>
            </a:extLst>
          </p:cNvPr>
          <p:cNvSpPr>
            <a:spLocks noGrp="1"/>
          </p:cNvSpPr>
          <p:nvPr>
            <p:ph type="title"/>
          </p:nvPr>
        </p:nvSpPr>
        <p:spPr>
          <a:xfrm>
            <a:off x="1376156" y="162233"/>
            <a:ext cx="10018713" cy="523568"/>
          </a:xfrm>
        </p:spPr>
        <p:txBody>
          <a:bodyPr>
            <a:normAutofit fontScale="90000"/>
          </a:bodyPr>
          <a:lstStyle/>
          <a:p>
            <a:r>
              <a:rPr lang="en-US" sz="3200" dirty="0">
                <a:solidFill>
                  <a:srgbClr val="7030A0"/>
                </a:solidFill>
                <a:latin typeface="Times New Roman" panose="02020603050405020304" pitchFamily="18" charset="0"/>
                <a:cs typeface="Times New Roman" panose="02020603050405020304" pitchFamily="18" charset="0"/>
              </a:rPr>
              <a:t>Data Cleaning and Statistical Analysis and Data storage</a:t>
            </a:r>
            <a:endParaRPr lang="en-IN" sz="3200"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78859A-500A-3775-7EE9-9A0038BA2747}"/>
              </a:ext>
            </a:extLst>
          </p:cNvPr>
          <p:cNvSpPr>
            <a:spLocks noGrp="1"/>
          </p:cNvSpPr>
          <p:nvPr>
            <p:ph idx="1"/>
          </p:nvPr>
        </p:nvSpPr>
        <p:spPr>
          <a:xfrm>
            <a:off x="1484311" y="1291263"/>
            <a:ext cx="9910558" cy="3745831"/>
          </a:xfrm>
        </p:spPr>
        <p:txBody>
          <a:bodyPr>
            <a:normAutofit fontScale="85000" lnSpcReduction="20000"/>
          </a:bodyPr>
          <a:lstStyle/>
          <a:p>
            <a:pP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After collecting the raw data through web scraping, data cleaning was performed to ensure accuracy and consistency. </a:t>
            </a:r>
          </a:p>
          <a:p>
            <a:pP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Missing values were handled, duplicate records were removed, and data types were converted appropriately (for example, price to float and reviews to integer).</a:t>
            </a:r>
          </a:p>
          <a:p>
            <a:pP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 Column names were standardized to maintain uniformity. These steps helped prepare the dataset for further analysis and modeling.</a:t>
            </a:r>
          </a:p>
          <a:p>
            <a:pPr marL="0" indent="0">
              <a:buNone/>
            </a:pPr>
            <a:r>
              <a:rPr lang="en-US" sz="1700" b="1" dirty="0">
                <a:solidFill>
                  <a:srgbClr val="7030A0"/>
                </a:solidFill>
                <a:latin typeface="Times New Roman" panose="02020603050405020304" pitchFamily="18" charset="0"/>
                <a:cs typeface="Times New Roman" panose="02020603050405020304" pitchFamily="18" charset="0"/>
              </a:rPr>
              <a:t>Statistical Analysis</a:t>
            </a:r>
            <a:endParaRPr lang="en-US" sz="17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Following data cleaning, Exploratory Data Analysis (EDA) was conducted to understand the distribution and relationships within the data.</a:t>
            </a:r>
          </a:p>
          <a:p>
            <a:pP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 Descriptive statistics such as mean, minimum, maximum, and standard deviation were calculated. </a:t>
            </a:r>
          </a:p>
          <a:p>
            <a:pP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Visualizations like histograms and boxplots were used to analyze price and review distributions, while a correlation matrix was applied to examine relationships between numerical variables. </a:t>
            </a:r>
          </a:p>
          <a:p>
            <a:pP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This analysis helped identify important patterns and trends in the dataset.</a:t>
            </a:r>
            <a:r>
              <a:rPr lang="en-US" sz="1400" dirty="0"/>
              <a:t> Hypothesis testing was performed to statistically evaluate relationships and differences between variables in the dataset.</a:t>
            </a:r>
            <a:endParaRPr lang="en-US" sz="1400" dirty="0">
              <a:latin typeface="Times New Roman" panose="02020603050405020304" pitchFamily="18" charset="0"/>
              <a:cs typeface="Times New Roman" panose="02020603050405020304" pitchFamily="18" charset="0"/>
            </a:endParaRPr>
          </a:p>
          <a:p>
            <a:pPr marL="0" indent="0">
              <a:buNone/>
            </a:pPr>
            <a:r>
              <a:rPr lang="en-US" sz="1700" b="1" dirty="0">
                <a:solidFill>
                  <a:srgbClr val="7030A0"/>
                </a:solidFill>
                <a:latin typeface="Times New Roman" panose="02020603050405020304" pitchFamily="18" charset="0"/>
                <a:cs typeface="Times New Roman" panose="02020603050405020304" pitchFamily="18" charset="0"/>
              </a:rPr>
              <a:t>Data storage</a:t>
            </a:r>
            <a:endParaRPr lang="en-US" sz="1700" b="1" dirty="0"/>
          </a:p>
          <a:p>
            <a:pP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After cleaning and analyzing the dataset, the processed data was stored in a MySQL database for structured management. A table was created with appropriate data types, and the cleaned data was inserted using MySQL Connector in Python. </a:t>
            </a:r>
          </a:p>
          <a:p>
            <a:pP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SQL queries were used to retrieve insights such as total products and category-wise analysis, and the database was connected to Power BI for visualization.</a:t>
            </a:r>
          </a:p>
          <a:p>
            <a:pPr>
              <a:buFont typeface="Wingdings" panose="05000000000000000000" pitchFamily="2" charset="2"/>
              <a:buChar char="Ø"/>
            </a:pPr>
            <a:endParaRPr lang="en-US" sz="1400" dirty="0">
              <a:latin typeface="Times New Roman" panose="02020603050405020304" pitchFamily="18"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41B12D04-26B4-4274-9002-46B8B2285A07}"/>
              </a:ext>
            </a:extLst>
          </p:cNvPr>
          <p:cNvSpPr txBox="1"/>
          <p:nvPr/>
        </p:nvSpPr>
        <p:spPr>
          <a:xfrm>
            <a:off x="1484311" y="685801"/>
            <a:ext cx="6096000" cy="338554"/>
          </a:xfrm>
          <a:prstGeom prst="rect">
            <a:avLst/>
          </a:prstGeom>
          <a:noFill/>
        </p:spPr>
        <p:txBody>
          <a:bodyPr wrap="square">
            <a:spAutoFit/>
          </a:bodyPr>
          <a:lstStyle/>
          <a:p>
            <a:r>
              <a:rPr lang="en-US" sz="1600" b="1" dirty="0">
                <a:solidFill>
                  <a:srgbClr val="7030A0"/>
                </a:solidFill>
                <a:latin typeface="Times New Roman" panose="02020603050405020304" pitchFamily="18" charset="0"/>
                <a:cs typeface="Times New Roman" panose="02020603050405020304" pitchFamily="18" charset="0"/>
              </a:rPr>
              <a:t>Data Cleaning </a:t>
            </a:r>
            <a:endParaRPr lang="en-IN" sz="1600" b="1" dirty="0"/>
          </a:p>
        </p:txBody>
      </p:sp>
      <p:pic>
        <p:nvPicPr>
          <p:cNvPr id="7" name="Picture 6">
            <a:extLst>
              <a:ext uri="{FF2B5EF4-FFF2-40B4-BE49-F238E27FC236}">
                <a16:creationId xmlns:a16="http://schemas.microsoft.com/office/drawing/2014/main" id="{80EF7848-69D4-87B4-A934-6B5EFC5D5B45}"/>
              </a:ext>
            </a:extLst>
          </p:cNvPr>
          <p:cNvPicPr>
            <a:picLocks noChangeAspect="1"/>
          </p:cNvPicPr>
          <p:nvPr/>
        </p:nvPicPr>
        <p:blipFill>
          <a:blip r:embed="rId2"/>
          <a:stretch>
            <a:fillRect/>
          </a:stretch>
        </p:blipFill>
        <p:spPr>
          <a:xfrm>
            <a:off x="1484311" y="4698541"/>
            <a:ext cx="2703871" cy="2075886"/>
          </a:xfrm>
          <a:prstGeom prst="rect">
            <a:avLst/>
          </a:prstGeom>
        </p:spPr>
      </p:pic>
      <p:pic>
        <p:nvPicPr>
          <p:cNvPr id="9" name="Picture 8">
            <a:extLst>
              <a:ext uri="{FF2B5EF4-FFF2-40B4-BE49-F238E27FC236}">
                <a16:creationId xmlns:a16="http://schemas.microsoft.com/office/drawing/2014/main" id="{F8D7ED87-BCDA-E552-799D-404D8C112029}"/>
              </a:ext>
            </a:extLst>
          </p:cNvPr>
          <p:cNvPicPr>
            <a:picLocks noChangeAspect="1"/>
          </p:cNvPicPr>
          <p:nvPr/>
        </p:nvPicPr>
        <p:blipFill>
          <a:blip r:embed="rId3"/>
          <a:stretch>
            <a:fillRect/>
          </a:stretch>
        </p:blipFill>
        <p:spPr>
          <a:xfrm>
            <a:off x="4821199" y="4698540"/>
            <a:ext cx="2926619" cy="2007060"/>
          </a:xfrm>
          <a:prstGeom prst="rect">
            <a:avLst/>
          </a:prstGeom>
        </p:spPr>
      </p:pic>
      <p:pic>
        <p:nvPicPr>
          <p:cNvPr id="11" name="Picture 10">
            <a:extLst>
              <a:ext uri="{FF2B5EF4-FFF2-40B4-BE49-F238E27FC236}">
                <a16:creationId xmlns:a16="http://schemas.microsoft.com/office/drawing/2014/main" id="{9FE55DDE-C8F5-631B-7956-B453EE81A333}"/>
              </a:ext>
            </a:extLst>
          </p:cNvPr>
          <p:cNvPicPr>
            <a:picLocks noChangeAspect="1"/>
          </p:cNvPicPr>
          <p:nvPr/>
        </p:nvPicPr>
        <p:blipFill>
          <a:blip r:embed="rId4"/>
          <a:stretch>
            <a:fillRect/>
          </a:stretch>
        </p:blipFill>
        <p:spPr>
          <a:xfrm>
            <a:off x="8369737" y="4698541"/>
            <a:ext cx="3025132" cy="2007059"/>
          </a:xfrm>
          <a:prstGeom prst="rect">
            <a:avLst/>
          </a:prstGeom>
        </p:spPr>
      </p:pic>
    </p:spTree>
    <p:extLst>
      <p:ext uri="{BB962C8B-B14F-4D97-AF65-F5344CB8AC3E}">
        <p14:creationId xmlns:p14="http://schemas.microsoft.com/office/powerpoint/2010/main" val="2912247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05CFB-5E03-3F8B-9585-9E5E19D54C3B}"/>
              </a:ext>
            </a:extLst>
          </p:cNvPr>
          <p:cNvSpPr>
            <a:spLocks noGrp="1"/>
          </p:cNvSpPr>
          <p:nvPr>
            <p:ph type="title"/>
          </p:nvPr>
        </p:nvSpPr>
        <p:spPr>
          <a:xfrm>
            <a:off x="1484310" y="174523"/>
            <a:ext cx="10018713" cy="621890"/>
          </a:xfrm>
        </p:spPr>
        <p:txBody>
          <a:bodyPr>
            <a:normAutofit/>
          </a:bodyPr>
          <a:lstStyle/>
          <a:p>
            <a:r>
              <a:rPr lang="en-IN" sz="2800" b="1" dirty="0">
                <a:solidFill>
                  <a:srgbClr val="7030A0"/>
                </a:solidFill>
                <a:latin typeface="Times New Roman" panose="02020603050405020304" pitchFamily="18" charset="0"/>
                <a:cs typeface="Times New Roman" panose="02020603050405020304" pitchFamily="18" charset="0"/>
              </a:rPr>
              <a:t>Unsupervised &amp; Supervised Learning</a:t>
            </a:r>
          </a:p>
        </p:txBody>
      </p:sp>
      <p:sp>
        <p:nvSpPr>
          <p:cNvPr id="3" name="Content Placeholder 2">
            <a:extLst>
              <a:ext uri="{FF2B5EF4-FFF2-40B4-BE49-F238E27FC236}">
                <a16:creationId xmlns:a16="http://schemas.microsoft.com/office/drawing/2014/main" id="{6F44B3E3-618F-37FE-DC7A-355957456053}"/>
              </a:ext>
            </a:extLst>
          </p:cNvPr>
          <p:cNvSpPr>
            <a:spLocks noGrp="1"/>
          </p:cNvSpPr>
          <p:nvPr>
            <p:ph idx="1"/>
          </p:nvPr>
        </p:nvSpPr>
        <p:spPr>
          <a:xfrm>
            <a:off x="1484310" y="1251155"/>
            <a:ext cx="10707690" cy="3647767"/>
          </a:xfrm>
        </p:spPr>
        <p:txBody>
          <a:bodyPr>
            <a:normAutofit/>
          </a:bodyPr>
          <a:lstStyle/>
          <a:p>
            <a:pPr>
              <a:buClr>
                <a:srgbClr val="7030A0"/>
              </a:buCl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In this project, K-Means clustering was used as an unsupervised learning technique to group products based on price and review similarities. Since unsupervised learning does not use predefined labels, the algorithm automatically identified patterns and formed clusters using distance-based calculations.</a:t>
            </a:r>
          </a:p>
          <a:p>
            <a:pPr>
              <a:buClr>
                <a:srgbClr val="7030A0"/>
              </a:buCl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The Elbow Method was applied to determine the optimal number of clusters by analyzing inertia values. The point where the graph shows a clear bend indicates the best value of k. The Silhouette Score was also used to evaluate clustering quality, with the best performance observed at k = 4.</a:t>
            </a:r>
          </a:p>
          <a:p>
            <a:pPr>
              <a:buClr>
                <a:srgbClr val="7030A0"/>
              </a:buCl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The cluster labels were generated automatically and not provided in the dataset, this approach uses unlabeled data and is considered unsupervised learning.</a:t>
            </a:r>
          </a:p>
          <a:p>
            <a:pPr>
              <a:buClr>
                <a:srgbClr val="7030A0"/>
              </a:buCl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supervised learning was applied to classify whether a product is expensive or not using the labeled target variable </a:t>
            </a:r>
            <a:r>
              <a:rPr lang="en-US" sz="1400" dirty="0" err="1">
                <a:latin typeface="Times New Roman" panose="02020603050405020304" pitchFamily="18" charset="0"/>
                <a:cs typeface="Times New Roman" panose="02020603050405020304" pitchFamily="18" charset="0"/>
              </a:rPr>
              <a:t>is_expensive</a:t>
            </a:r>
            <a:r>
              <a:rPr lang="en-US" sz="1400" dirty="0">
                <a:latin typeface="Times New Roman" panose="02020603050405020304" pitchFamily="18" charset="0"/>
                <a:cs typeface="Times New Roman" panose="02020603050405020304" pitchFamily="18" charset="0"/>
              </a:rPr>
              <a:t>. Logistic Regression showed strong performance with only one misclassification in the confusion matrix and an excellent ROC curve.</a:t>
            </a:r>
          </a:p>
          <a:p>
            <a:pPr>
              <a:buClr>
                <a:srgbClr val="7030A0"/>
              </a:buClr>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 SVM clearly separated the classes with a well-defined decision boundary. KNN achieved stable accuracy across different values of k. Random Forest analysis revealed that price is the most important feature, contributing the highest influence in prediction. Overall, the supervised models performed effectively on the dataset.</a:t>
            </a:r>
          </a:p>
          <a:p>
            <a:pPr>
              <a:buClr>
                <a:schemeClr val="accent6">
                  <a:lumMod val="75000"/>
                </a:schemeClr>
              </a:buClr>
              <a:buFont typeface="Wingdings" panose="05000000000000000000" pitchFamily="2" charset="2"/>
              <a:buChar char="Ø"/>
            </a:pPr>
            <a:endParaRPr lang="en-US" sz="1400"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50E452F5-1FD5-A322-CCB2-66AD8D9EEA76}"/>
              </a:ext>
            </a:extLst>
          </p:cNvPr>
          <p:cNvPicPr>
            <a:picLocks noChangeAspect="1"/>
          </p:cNvPicPr>
          <p:nvPr/>
        </p:nvPicPr>
        <p:blipFill>
          <a:blip r:embed="rId2"/>
          <a:stretch>
            <a:fillRect/>
          </a:stretch>
        </p:blipFill>
        <p:spPr>
          <a:xfrm>
            <a:off x="349034" y="4440710"/>
            <a:ext cx="2866279" cy="2081552"/>
          </a:xfrm>
          <a:prstGeom prst="rect">
            <a:avLst/>
          </a:prstGeom>
        </p:spPr>
      </p:pic>
      <p:pic>
        <p:nvPicPr>
          <p:cNvPr id="7" name="Picture 6">
            <a:extLst>
              <a:ext uri="{FF2B5EF4-FFF2-40B4-BE49-F238E27FC236}">
                <a16:creationId xmlns:a16="http://schemas.microsoft.com/office/drawing/2014/main" id="{35E65113-7D83-4C08-437F-BA39B8858BAC}"/>
              </a:ext>
            </a:extLst>
          </p:cNvPr>
          <p:cNvPicPr>
            <a:picLocks noChangeAspect="1"/>
          </p:cNvPicPr>
          <p:nvPr/>
        </p:nvPicPr>
        <p:blipFill>
          <a:blip r:embed="rId3"/>
          <a:stretch>
            <a:fillRect/>
          </a:stretch>
        </p:blipFill>
        <p:spPr>
          <a:xfrm>
            <a:off x="3413067" y="4425233"/>
            <a:ext cx="2866279" cy="2137075"/>
          </a:xfrm>
          <a:prstGeom prst="rect">
            <a:avLst/>
          </a:prstGeom>
        </p:spPr>
      </p:pic>
      <p:pic>
        <p:nvPicPr>
          <p:cNvPr id="9" name="Picture 8">
            <a:extLst>
              <a:ext uri="{FF2B5EF4-FFF2-40B4-BE49-F238E27FC236}">
                <a16:creationId xmlns:a16="http://schemas.microsoft.com/office/drawing/2014/main" id="{59E7CA37-C5F5-3812-A04C-8B4ADABF906B}"/>
              </a:ext>
            </a:extLst>
          </p:cNvPr>
          <p:cNvPicPr>
            <a:picLocks noChangeAspect="1"/>
          </p:cNvPicPr>
          <p:nvPr/>
        </p:nvPicPr>
        <p:blipFill>
          <a:blip r:embed="rId4"/>
          <a:stretch>
            <a:fillRect/>
          </a:stretch>
        </p:blipFill>
        <p:spPr>
          <a:xfrm>
            <a:off x="6553605" y="4425233"/>
            <a:ext cx="2607907" cy="2149360"/>
          </a:xfrm>
          <a:prstGeom prst="rect">
            <a:avLst/>
          </a:prstGeom>
        </p:spPr>
      </p:pic>
      <p:pic>
        <p:nvPicPr>
          <p:cNvPr id="11" name="Picture 10">
            <a:extLst>
              <a:ext uri="{FF2B5EF4-FFF2-40B4-BE49-F238E27FC236}">
                <a16:creationId xmlns:a16="http://schemas.microsoft.com/office/drawing/2014/main" id="{4720645A-7C18-79C0-8605-23798670BD53}"/>
              </a:ext>
            </a:extLst>
          </p:cNvPr>
          <p:cNvPicPr>
            <a:picLocks noChangeAspect="1"/>
          </p:cNvPicPr>
          <p:nvPr/>
        </p:nvPicPr>
        <p:blipFill>
          <a:blip r:embed="rId5"/>
          <a:stretch>
            <a:fillRect/>
          </a:stretch>
        </p:blipFill>
        <p:spPr>
          <a:xfrm>
            <a:off x="9356037" y="4440710"/>
            <a:ext cx="2641438" cy="2081552"/>
          </a:xfrm>
          <a:prstGeom prst="rect">
            <a:avLst/>
          </a:prstGeom>
        </p:spPr>
      </p:pic>
    </p:spTree>
    <p:extLst>
      <p:ext uri="{BB962C8B-B14F-4D97-AF65-F5344CB8AC3E}">
        <p14:creationId xmlns:p14="http://schemas.microsoft.com/office/powerpoint/2010/main" val="2147626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1CADD-67F7-22E5-E0BD-2DB95C4C3CFE}"/>
              </a:ext>
            </a:extLst>
          </p:cNvPr>
          <p:cNvSpPr>
            <a:spLocks noGrp="1"/>
          </p:cNvSpPr>
          <p:nvPr>
            <p:ph type="title"/>
          </p:nvPr>
        </p:nvSpPr>
        <p:spPr>
          <a:xfrm>
            <a:off x="1484311" y="685800"/>
            <a:ext cx="10018713" cy="641555"/>
          </a:xfrm>
        </p:spPr>
        <p:txBody>
          <a:bodyPr>
            <a:normAutofit fontScale="90000"/>
          </a:bodyPr>
          <a:lstStyle/>
          <a:p>
            <a:r>
              <a:rPr lang="en-IN" dirty="0">
                <a:solidFill>
                  <a:srgbClr val="7030A0"/>
                </a:solidFill>
                <a:latin typeface="Times New Roman" panose="02020603050405020304" pitchFamily="18" charset="0"/>
                <a:cs typeface="Times New Roman" panose="02020603050405020304" pitchFamily="18" charset="0"/>
              </a:rPr>
              <a:t>Hyperparameter</a:t>
            </a:r>
            <a:r>
              <a:rPr lang="en-IN" dirty="0">
                <a:solidFill>
                  <a:srgbClr val="7030A0"/>
                </a:solidFill>
              </a:rPr>
              <a:t> Tuning</a:t>
            </a:r>
          </a:p>
        </p:txBody>
      </p:sp>
      <p:sp>
        <p:nvSpPr>
          <p:cNvPr id="3" name="Content Placeholder 2">
            <a:extLst>
              <a:ext uri="{FF2B5EF4-FFF2-40B4-BE49-F238E27FC236}">
                <a16:creationId xmlns:a16="http://schemas.microsoft.com/office/drawing/2014/main" id="{8FB11505-D646-2B3C-16BB-B233BC18157F}"/>
              </a:ext>
            </a:extLst>
          </p:cNvPr>
          <p:cNvSpPr>
            <a:spLocks noGrp="1"/>
          </p:cNvSpPr>
          <p:nvPr>
            <p:ph idx="1"/>
          </p:nvPr>
        </p:nvSpPr>
        <p:spPr>
          <a:xfrm>
            <a:off x="1484311" y="1595392"/>
            <a:ext cx="6469987" cy="4112341"/>
          </a:xfrm>
        </p:spPr>
        <p:txBody>
          <a:bodyPr>
            <a:normAutofit/>
          </a:bodyPr>
          <a:lstStyle/>
          <a:p>
            <a:r>
              <a:rPr lang="en-US" sz="1600" dirty="0">
                <a:latin typeface="Times New Roman" panose="02020603050405020304" pitchFamily="18" charset="0"/>
                <a:cs typeface="Times New Roman" panose="02020603050405020304" pitchFamily="18" charset="0"/>
              </a:rPr>
              <a:t>After building the supervised models, hyperparameter tuning was performed using Grid Search and Random Search to find the best combination of parameters. </a:t>
            </a:r>
          </a:p>
          <a:p>
            <a:r>
              <a:rPr lang="en-US" sz="1600" dirty="0">
                <a:latin typeface="Times New Roman" panose="02020603050405020304" pitchFamily="18" charset="0"/>
                <a:cs typeface="Times New Roman" panose="02020603050405020304" pitchFamily="18" charset="0"/>
              </a:rPr>
              <a:t>Different values such as number of trees (</a:t>
            </a:r>
            <a:r>
              <a:rPr lang="en-US" sz="1600" dirty="0" err="1">
                <a:latin typeface="Times New Roman" panose="02020603050405020304" pitchFamily="18" charset="0"/>
                <a:cs typeface="Times New Roman" panose="02020603050405020304" pitchFamily="18" charset="0"/>
              </a:rPr>
              <a:t>n_estimators</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max_depth</a:t>
            </a:r>
            <a:r>
              <a:rPr lang="en-US" sz="1600" dirty="0">
                <a:latin typeface="Times New Roman" panose="02020603050405020304" pitchFamily="18" charset="0"/>
                <a:cs typeface="Times New Roman" panose="02020603050405020304" pitchFamily="18" charset="0"/>
              </a:rPr>
              <a:t>, and split criteria were tested to improve model performance. </a:t>
            </a:r>
          </a:p>
          <a:p>
            <a:r>
              <a:rPr lang="en-US" sz="1600" dirty="0">
                <a:latin typeface="Times New Roman" panose="02020603050405020304" pitchFamily="18" charset="0"/>
                <a:cs typeface="Times New Roman" panose="02020603050405020304" pitchFamily="18" charset="0"/>
              </a:rPr>
              <a:t>The tuned model achieved high accuracy and F1-score, indicating strong predictive performance. Feature importance analysis showed that </a:t>
            </a:r>
            <a:r>
              <a:rPr lang="en-US" sz="1600" i="1" dirty="0">
                <a:latin typeface="Times New Roman" panose="02020603050405020304" pitchFamily="18" charset="0"/>
                <a:cs typeface="Times New Roman" panose="02020603050405020304" pitchFamily="18" charset="0"/>
              </a:rPr>
              <a:t>price</a:t>
            </a:r>
            <a:r>
              <a:rPr lang="en-US" sz="1600" dirty="0">
                <a:latin typeface="Times New Roman" panose="02020603050405020304" pitchFamily="18" charset="0"/>
                <a:cs typeface="Times New Roman" panose="02020603050405020304" pitchFamily="18" charset="0"/>
              </a:rPr>
              <a:t> is the most influential factor in classifying whether a product is expensive or not.</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04CCC5A-A3CA-8A53-A084-EF2276B931BB}"/>
              </a:ext>
            </a:extLst>
          </p:cNvPr>
          <p:cNvPicPr>
            <a:picLocks noChangeAspect="1"/>
          </p:cNvPicPr>
          <p:nvPr/>
        </p:nvPicPr>
        <p:blipFill>
          <a:blip r:embed="rId2"/>
          <a:stretch>
            <a:fillRect/>
          </a:stretch>
        </p:blipFill>
        <p:spPr>
          <a:xfrm>
            <a:off x="8131277" y="2315496"/>
            <a:ext cx="3715268" cy="2672135"/>
          </a:xfrm>
          <a:prstGeom prst="rect">
            <a:avLst/>
          </a:prstGeom>
        </p:spPr>
      </p:pic>
    </p:spTree>
    <p:extLst>
      <p:ext uri="{BB962C8B-B14F-4D97-AF65-F5344CB8AC3E}">
        <p14:creationId xmlns:p14="http://schemas.microsoft.com/office/powerpoint/2010/main" val="3628516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D6579-99F1-D897-B065-24E17B9CB8E1}"/>
              </a:ext>
            </a:extLst>
          </p:cNvPr>
          <p:cNvSpPr>
            <a:spLocks noGrp="1"/>
          </p:cNvSpPr>
          <p:nvPr>
            <p:ph type="title"/>
          </p:nvPr>
        </p:nvSpPr>
        <p:spPr>
          <a:xfrm>
            <a:off x="1297498" y="253182"/>
            <a:ext cx="10018713" cy="612058"/>
          </a:xfrm>
        </p:spPr>
        <p:txBody>
          <a:bodyPr>
            <a:normAutofit/>
          </a:bodyPr>
          <a:lstStyle/>
          <a:p>
            <a:r>
              <a:rPr lang="en-IN" sz="3200" dirty="0">
                <a:solidFill>
                  <a:srgbClr val="7030A0"/>
                </a:solidFill>
                <a:latin typeface="Times New Roman" panose="02020603050405020304" pitchFamily="18" charset="0"/>
                <a:cs typeface="Times New Roman" panose="02020603050405020304" pitchFamily="18" charset="0"/>
              </a:rPr>
              <a:t>Power BI Dashboard</a:t>
            </a:r>
          </a:p>
        </p:txBody>
      </p:sp>
      <p:pic>
        <p:nvPicPr>
          <p:cNvPr id="5" name="Content Placeholder 4">
            <a:extLst>
              <a:ext uri="{FF2B5EF4-FFF2-40B4-BE49-F238E27FC236}">
                <a16:creationId xmlns:a16="http://schemas.microsoft.com/office/drawing/2014/main" id="{3C290B31-AD61-6EFC-069B-B63D76E1FB33}"/>
              </a:ext>
            </a:extLst>
          </p:cNvPr>
          <p:cNvPicPr>
            <a:picLocks noGrp="1" noChangeAspect="1"/>
          </p:cNvPicPr>
          <p:nvPr>
            <p:ph idx="1"/>
          </p:nvPr>
        </p:nvPicPr>
        <p:blipFill>
          <a:blip r:embed="rId2"/>
          <a:stretch>
            <a:fillRect/>
          </a:stretch>
        </p:blipFill>
        <p:spPr>
          <a:xfrm>
            <a:off x="2969342" y="1080060"/>
            <a:ext cx="6420465" cy="2700894"/>
          </a:xfrm>
          <a:prstGeom prst="rect">
            <a:avLst/>
          </a:prstGeom>
        </p:spPr>
      </p:pic>
      <p:sp>
        <p:nvSpPr>
          <p:cNvPr id="7" name="TextBox 6">
            <a:extLst>
              <a:ext uri="{FF2B5EF4-FFF2-40B4-BE49-F238E27FC236}">
                <a16:creationId xmlns:a16="http://schemas.microsoft.com/office/drawing/2014/main" id="{9D909993-C1BF-D963-6A20-30156D82EA84}"/>
              </a:ext>
            </a:extLst>
          </p:cNvPr>
          <p:cNvSpPr txBox="1"/>
          <p:nvPr/>
        </p:nvSpPr>
        <p:spPr>
          <a:xfrm>
            <a:off x="1862107" y="3995775"/>
            <a:ext cx="9120526" cy="2308324"/>
          </a:xfrm>
          <a:prstGeom prst="rect">
            <a:avLst/>
          </a:prstGeom>
          <a:noFill/>
        </p:spPr>
        <p:txBody>
          <a:bodyPr wrap="square">
            <a:spAutoFit/>
          </a:bodyPr>
          <a:lstStyle/>
          <a:p>
            <a:pPr marL="285750" indent="-285750">
              <a:buClr>
                <a:schemeClr val="accent1">
                  <a:lumMod val="60000"/>
                  <a:lumOff val="40000"/>
                </a:schemeClr>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final dashboard was developed in Power BI to present key insights from the e-commerce dataset in an interactive format. It highlights important metrics such as Total Products, Average Reviews, and Expensive Products using KPI cards.</a:t>
            </a:r>
          </a:p>
          <a:p>
            <a:pPr>
              <a:buClr>
                <a:schemeClr val="accent1">
                  <a:lumMod val="60000"/>
                  <a:lumOff val="40000"/>
                </a:schemeClr>
              </a:buClr>
            </a:pPr>
            <a:endParaRPr lang="en-US" sz="1600" dirty="0">
              <a:latin typeface="Times New Roman" panose="02020603050405020304" pitchFamily="18" charset="0"/>
              <a:cs typeface="Times New Roman" panose="02020603050405020304" pitchFamily="18" charset="0"/>
            </a:endParaRPr>
          </a:p>
          <a:p>
            <a:pPr marL="285750" indent="-285750">
              <a:buClr>
                <a:schemeClr val="accent1">
                  <a:lumMod val="60000"/>
                  <a:lumOff val="40000"/>
                </a:schemeClr>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Visualizations like bar charts, pie charts, and line graphs analyze price distribution, review patterns, brand performance, and category-wise comparisons. Filters for category, color, and price type enable dynamic data exploration.</a:t>
            </a:r>
          </a:p>
          <a:p>
            <a:pPr marL="285750" indent="-285750">
              <a:buClr>
                <a:schemeClr val="accent1">
                  <a:lumMod val="60000"/>
                  <a:lumOff val="40000"/>
                </a:schemeClr>
              </a:buCl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Clr>
                <a:schemeClr val="accent1">
                  <a:lumMod val="60000"/>
                  <a:lumOff val="40000"/>
                </a:schemeClr>
              </a:buCl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Overall, the dashboard converts analytical results into clear business insights for better decision-making.</a:t>
            </a:r>
          </a:p>
        </p:txBody>
      </p:sp>
    </p:spTree>
    <p:extLst>
      <p:ext uri="{BB962C8B-B14F-4D97-AF65-F5344CB8AC3E}">
        <p14:creationId xmlns:p14="http://schemas.microsoft.com/office/powerpoint/2010/main" val="28261962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80</TotalTime>
  <Words>797</Words>
  <Application>Microsoft Office PowerPoint</Application>
  <PresentationFormat>Widescreen</PresentationFormat>
  <Paragraphs>36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Corbel</vt:lpstr>
      <vt:lpstr>Times New Roman</vt:lpstr>
      <vt:lpstr>Wingdings</vt:lpstr>
      <vt:lpstr>Parallax</vt:lpstr>
      <vt:lpstr>𝑬-𝕮𝒐𝒎𝒎𝒆𝒓𝒄𝒆 𝑷𝒓𝒐𝒅𝒖𝒄𝒕  𝑫𝒂𝒕𝒂 𝑨𝒏𝒂𝒍𝒚𝒔𝒊𝒔  𝒂𝒏𝒅 𝑴𝒂𝒄𝒉𝒊𝒏𝒆 𝑳𝒆𝒂𝒓𝒏𝒊𝒏𝒈</vt:lpstr>
      <vt:lpstr>Introduction</vt:lpstr>
      <vt:lpstr>Data Cleaning and Statistical Analysis and Data storage</vt:lpstr>
      <vt:lpstr>Unsupervised &amp; Supervised Learning</vt:lpstr>
      <vt:lpstr>Hyperparameter Tuning</vt:lpstr>
      <vt:lpstr>Power BI Dashboard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Abirami S</dc:creator>
  <cp:lastModifiedBy>Abirami S</cp:lastModifiedBy>
  <cp:revision>1</cp:revision>
  <dcterms:created xsi:type="dcterms:W3CDTF">2026-02-26T18:12:24Z</dcterms:created>
  <dcterms:modified xsi:type="dcterms:W3CDTF">2026-02-26T19:32:48Z</dcterms:modified>
</cp:coreProperties>
</file>